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6858000" cx="12192000"/>
  <p:notesSz cx="6858000" cy="9144000"/>
  <p:embeddedFontLst>
    <p:embeddedFont>
      <p:font typeface="Roboto Mon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Mono-italic.fntdata"/><Relationship Id="rId61" Type="http://schemas.openxmlformats.org/officeDocument/2006/relationships/font" Target="fonts/RobotoMono-bold.fntdata"/><Relationship Id="rId20" Type="http://schemas.openxmlformats.org/officeDocument/2006/relationships/slide" Target="slides/slide15.xml"/><Relationship Id="rId63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2eaf854cc817511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h2eaf854cc817511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application can: Request data → Receive JSON → Process the data → Display the information to the user.</a:t>
            </a:r>
            <a:endParaRPr/>
          </a:p>
        </p:txBody>
      </p:sp>
      <p:sp>
        <p:nvSpPr>
          <p:cNvPr id="274" name="Google Shape;27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3ODP6tTpjqA" TargetMode="External"/><Relationship Id="rId4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Mobile Application Development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Week 1: Introduction to Mobile Applications &amp; Progressive Web Apps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Unit Code: FGCT6002  |  Level 6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Future Education University College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Today's Learning Objectives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By the end of this session, you should be able to: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Explain what mobile application development means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Identify different approaches to mobile application development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Explain the concept of a Progressive Web App (PWA)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Understand the role of HTML, CSS and JavaScript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Distinguish between front-end and back-end development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Explain the purpose of APIs and databases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Understand the role of a Web App Manifest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Explain the purpose of a Service Worker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Describe a basic PWA architecture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Begin planning your own application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What Is Mobile Application Development?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The process of designing, developing, testing and deploying software for mobile devices.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Mobile applications can provide: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Communication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Education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Entertainment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Shopping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Banking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Health and fitness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Travel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Business services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KEY CONSIDERATION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A mobile application should be designed around:  Users + Problems + Functionality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Examples of Mobile Applications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Mobile Applications Around Us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Banking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Food delivery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Fitness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University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Shopping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Social media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Travel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Appointment booking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Productivity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Entertainment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Think about: What problem does the application solve?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From Websites to Mobile Applications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EVOLUTION OF APPLICATION DEVELOPMENT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Desktop Applications  →  Websites  →  Responsive Web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→  Native Mobile Applications  →  Cross-Platform Applications  →  Progressive Web Applications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THE GOAL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Accessible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Responsive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Fast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Usable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Reliable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Approaches to Mobile Development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NATIVE DEVELOPMENT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Applications developed specifically for a platform.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CROSS-PLATFORM DEVELOPMENT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Applications developed using frameworks that target multiple platforms.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WEB APPLICATION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Applications accessed through a web browser.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PROGRESSIVE WEB APPLICATION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 web application enhanced with app-like capabilities.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Native Mobile Applications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Developed specifically for a particular operating system.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Android  —  Kotlin, Java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iOS  —  Swift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Strong platform integration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Access to device capabilities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High performance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Platform-specific experience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CONSIDERATION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Separate platform development may increase development and maintenance effort.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Cross-Platform Applications</a:t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 development approach that can target multiple platforms.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Examples:  Flutter  •  React Native  •  .NET MAUI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POTENTIAL BENEFITS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Code reuse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Multiple platform targets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Reduced duplication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Shared development workflow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IMPORTANT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The choice depends on:  Project requirements + users + resources + technology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Web Applications</a:t>
            </a:r>
            <a:endParaRPr/>
          </a:p>
        </p:txBody>
      </p:sp>
      <p:sp>
        <p:nvSpPr>
          <p:cNvPr id="154" name="Google Shape;154;p21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Applications that run through a web browser.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COMMON TECHNOLOGIES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HTML — Structure        CSS — Presentation        JavaScript — Behaviour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Online banking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University portals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E-commerce systems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Web-based productivity tools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61" name="Google Shape;161;p22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Responsive Web Design</a:t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 responsive application adapts its layout to different screen sizes.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Desktop — Large screen        Tablet — Medium screen        Mobile — Small screen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Responsive design considers: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Screen size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Navigation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Text readability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Touch interaction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Images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Layout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Accessibility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What Is a PWA?</a:t>
            </a:r>
            <a:endParaRPr/>
          </a:p>
        </p:txBody>
      </p:sp>
      <p:sp>
        <p:nvSpPr>
          <p:cNvPr id="170" name="Google Shape;170;p23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 Progressive Web App (PWA) is a web application enhanced with capabilities that provide a more app-like experience.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PWA combines:  Web Technologies  +  App-like Capabilities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TYPICAL CHARACTERISTICS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Responsive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Installable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Reliable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Fast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Offline-capable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Network-aware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Can use selected device capabilities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77" name="Google Shape;177;p24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What Is a PWA?</a:t>
            </a:r>
            <a:endParaRPr/>
          </a:p>
        </p:txBody>
      </p:sp>
      <p:pic>
        <p:nvPicPr>
          <p:cNvPr descr="Are Progressive Web Apps still relevant?&#10;&#10;💬 Topics:&#10;- What is a PWA;&#10;- Steps to convert a Web App into a PWA;&#10;- Working with Service Workers;&#10;- PWA Example;&#10;- List of PWA features&#10;&#10;🥇 Become a Member - https://www.youtube.com/channel/UCXzw-OdotBUcNA9yhuYQBwA/join&#10;✉️ Join the Newsletter - https://newsletter.awesome.club/&#10;📖 Blog Article - https://www.awesome.club/blog/2024/are-pwa-still-relevant" id="178" name="Google Shape;178;p24" title="Progressive Web Apps Explaine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3293" y="1347271"/>
            <a:ext cx="8542925" cy="48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85" name="Google Shape;185;p25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Website vs PWA</a:t>
            </a:r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WEBSITE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Browser-based  •  Responsive  •  Usually accessed by URL  •  Limited offline support  •  Traditional web experience  •  May not use a service worker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PWA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Browser-based  •  Responsive  •  Can be installable  •  Can support offline functionality  •  Enhanced app-like experience  •  Uses PWA technologies such as a service worker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KEY IDEA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A responsive website is not automatically a PWA.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193" name="Google Shape;193;p26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Why Use a PWA?</a:t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PWAs can provide: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Cross-platform accessibility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Responsive interfaces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Installability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Offline capabilities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Faster repeat access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Caching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App-like experiences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Web-based development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DEVELOPMENT TECHNOLOGIES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HTML  •  CSS  •  JavaScript  •  Web APIs  •  Service Workers  •  Web App Manifest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01" name="Google Shape;201;p27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Core Web Technologies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HTML  —  Structure  —  Defines the content and elements.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CSS  —  Presentation  —  Controls layout, appearance and responsiveness.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JavaScript  —  Behaviour  —  Provides interaction and application logic.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SIMPLE MODEL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HTML → What is on the page?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CSS → How does it look?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JavaScript → What does it do?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/>
          </a:p>
        </p:txBody>
      </p:sp>
      <p:sp>
        <p:nvSpPr>
          <p:cNvPr id="210" name="Google Shape;210;p28"/>
          <p:cNvSpPr/>
          <p:nvPr/>
        </p:nvSpPr>
        <p:spPr>
          <a:xfrm>
            <a:off x="868680" y="1243584"/>
            <a:ext cx="10424160" cy="146304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&lt;h1&gt;Fitness Studio&lt;/h1&gt;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&lt;p&gt;Book your next fitness class.&lt;/p&gt;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&lt;button&gt;Book Now&lt;/button&gt;</a:t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868680" y="2706624"/>
            <a:ext cx="10607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HTML — HyperText Markup Language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HTML defines the structure of a webpage.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HTML can create: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Headings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Paragraphs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Buttons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Forms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Images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Links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Lists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Sections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Navigation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18" name="Google Shape;218;p29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/>
          </a:p>
        </p:txBody>
      </p:sp>
      <p:sp>
        <p:nvSpPr>
          <p:cNvPr id="219" name="Google Shape;219;p29"/>
          <p:cNvSpPr/>
          <p:nvPr/>
        </p:nvSpPr>
        <p:spPr>
          <a:xfrm>
            <a:off x="865642" y="1737350"/>
            <a:ext cx="6412500" cy="13788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button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padding: 12px 20px;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border-radius: 8px;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20" name="Google Shape;220;p29"/>
          <p:cNvSpPr txBox="1"/>
          <p:nvPr/>
        </p:nvSpPr>
        <p:spPr>
          <a:xfrm>
            <a:off x="868680" y="3246120"/>
            <a:ext cx="10607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CSS — Cascading Style Sheets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CSS controls the presentation of the application.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Colours • Fonts • Spacing • Size • Layout • Alignment • Borders • Responsive design • Animations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27" name="Google Shape;227;p30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868676" y="1737350"/>
            <a:ext cx="8201400" cy="1097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document.querySelector("button")</a:t>
            </a: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.addEventListener("click", () =&gt;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alert("Welcome!");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868680" y="3063239"/>
            <a:ext cx="106070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JavaScript provides behaviour and interaction.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Respond to user actions • Validate forms • Change page content • Communicate with APIs • Process data • Manage application state • Access browser capabilities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1"/>
          <p:cNvSpPr txBox="1"/>
          <p:nvPr/>
        </p:nvSpPr>
        <p:spPr>
          <a:xfrm>
            <a:off x="685800" y="292608"/>
            <a:ext cx="10789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36" name="Google Shape;236;p31"/>
          <p:cNvSpPr txBox="1"/>
          <p:nvPr/>
        </p:nvSpPr>
        <p:spPr>
          <a:xfrm>
            <a:off x="685800" y="621792"/>
            <a:ext cx="1088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237" name="Google Shape;237;p31"/>
          <p:cNvSpPr/>
          <p:nvPr/>
        </p:nvSpPr>
        <p:spPr>
          <a:xfrm>
            <a:off x="914400" y="1175900"/>
            <a:ext cx="10424100" cy="21372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CSS — inside the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&lt;link rel="stylesheet" href="style.css"&gt;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rel="stylesheet"</a:t>
            </a:r>
            <a:r>
              <a:rPr lang="en-US" sz="1100">
                <a:solidFill>
                  <a:schemeClr val="dk1"/>
                </a:solidFill>
              </a:rPr>
              <a:t> tells the browser that this file contains CSS styles.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href="style.css"</a:t>
            </a:r>
            <a:r>
              <a:rPr lang="en-US" sz="1100">
                <a:solidFill>
                  <a:schemeClr val="dk1"/>
                </a:solidFill>
              </a:rPr>
              <a:t> specifies the location of the CSS file.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CSS controls the appearance of your webpage, such as colours, fonts, and layout.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2. JavaScript — before the closing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&lt;/body&gt;</a:t>
            </a:r>
            <a:r>
              <a:rPr lang="en-US" sz="1100">
                <a:solidFill>
                  <a:schemeClr val="dk1"/>
                </a:solidFill>
              </a:rPr>
              <a:t> tag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&lt;script src="app.js"&gt;&lt;/script&gt;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4324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31"/>
          <p:cNvSpPr txBox="1"/>
          <p:nvPr/>
        </p:nvSpPr>
        <p:spPr>
          <a:xfrm>
            <a:off x="868680" y="3063239"/>
            <a:ext cx="1060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45" name="Google Shape;245;p32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Front-End Development</a:t>
            </a:r>
            <a:endParaRPr/>
          </a:p>
        </p:txBody>
      </p:sp>
      <p:sp>
        <p:nvSpPr>
          <p:cNvPr id="246" name="Google Shape;246;p32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The front end is the part of the application the user sees and interacts with.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Login screen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Navigation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Buttons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Forms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Dashboard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Cards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Menus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User profile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TECHNOLOGIES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HTML + CSS + JavaScript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53" name="Google Shape;253;p33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Back-End Development</a:t>
            </a:r>
            <a:endParaRPr/>
          </a:p>
        </p:txBody>
      </p:sp>
      <p:sp>
        <p:nvSpPr>
          <p:cNvPr id="254" name="Google Shape;254;p33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The back end handles server-side processing and application logic.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User authentication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Business logic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Data processing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API endpoints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Database operations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Security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POSSIBLE TECHNOLOGIES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Node.js + Express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61" name="Google Shape;261;p34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Front End + Back End</a:t>
            </a:r>
            <a:endParaRPr/>
          </a:p>
        </p:txBody>
      </p:sp>
      <p:sp>
        <p:nvSpPr>
          <p:cNvPr id="262" name="Google Shape;262;p34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USER  →  FRONT END  →  API  →  BACK END  →  DATABASE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Front end — what the user interacts with.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Back end — processes requests and application logic.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Database — stores persistent information.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5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69" name="Google Shape;269;p35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What Is an API?</a:t>
            </a:r>
            <a:endParaRPr/>
          </a:p>
        </p:txBody>
      </p:sp>
      <p:sp>
        <p:nvSpPr>
          <p:cNvPr id="270" name="Google Shape;270;p35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API — Application Programming Interface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An API provides a structured way for different software components to communicate.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PWA → GET /api/classes → BACK END → DATABASE → JSON RESPONSE → PWA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APIs can support: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Retrieving data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Creating data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Updating data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Deleting data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Authentication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Communication between systems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78" name="Google Shape;278;p36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/>
          </a:p>
        </p:txBody>
      </p:sp>
      <p:sp>
        <p:nvSpPr>
          <p:cNvPr id="279" name="Google Shape;279;p36"/>
          <p:cNvSpPr/>
          <p:nvPr/>
        </p:nvSpPr>
        <p:spPr>
          <a:xfrm>
            <a:off x="868680" y="1737360"/>
            <a:ext cx="10424160" cy="155448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"name": "Yoga",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"instructor": "Sarah",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"time": "10:00"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868680" y="3520439"/>
            <a:ext cx="106070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Applications commonly exchange structured data using JSON.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7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87" name="Google Shape;287;p37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 database stores persistent application information.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EXAMPLES OF STORED DATA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Users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Products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Bookings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Orders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Appointments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Messages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Assignments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ID     Name       Email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1      Ahmed      ahmed@email.com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2      Sara       sara@email.com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8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295" name="Google Shape;295;p38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User Authentication</a:t>
            </a:r>
            <a:endParaRPr/>
          </a:p>
        </p:txBody>
      </p:sp>
      <p:sp>
        <p:nvSpPr>
          <p:cNvPr id="296" name="Google Shape;296;p38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Authentication answers:  Who is the user?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TYPICAL PROCESS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Register  →  Login  →  Verify credentials  →  Create authenticated session/token  →  Access protected resources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Username/password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Email/password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Authentication tokens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9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03" name="Google Shape;303;p39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PWA Architecture</a:t>
            </a:r>
            <a:endParaRPr/>
          </a:p>
        </p:txBody>
      </p:sp>
      <p:sp>
        <p:nvSpPr>
          <p:cNvPr id="304" name="Google Shape;304;p39"/>
          <p:cNvSpPr txBox="1"/>
          <p:nvPr/>
        </p:nvSpPr>
        <p:spPr>
          <a:xfrm>
            <a:off x="868680" y="1737360"/>
            <a:ext cx="10607100" cy="1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USER  →  PWA INTERFACE  →  HTML + CSS + JS  →  SERVICE WORKER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SERVICE WORKER  →  CACHE  or  NETWORK  →  API  →  BACK END  →  DATABASE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KEY IDEA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Different components have different responsibilities.</a:t>
            </a:r>
            <a:endParaRPr b="0" i="0" sz="2000" u="none" cap="none" strike="noStrike">
              <a:solidFill>
                <a:srgbClr val="E87A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87A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342" y="3377260"/>
            <a:ext cx="8598840" cy="2989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12" name="Google Shape;312;p40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Web App Manifest</a:t>
            </a:r>
            <a:endParaRPr/>
          </a:p>
        </p:txBody>
      </p:sp>
      <p:sp>
        <p:nvSpPr>
          <p:cNvPr id="313" name="Google Shape;313;p40"/>
          <p:cNvSpPr/>
          <p:nvPr/>
        </p:nvSpPr>
        <p:spPr>
          <a:xfrm>
            <a:off x="868680" y="1737360"/>
            <a:ext cx="10424160" cy="173736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"name": "Fitness Studio",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"short_name": "Fitness",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"start_url": "./",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"display": "standalone"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14" name="Google Shape;314;p40"/>
          <p:cNvSpPr txBox="1"/>
          <p:nvPr/>
        </p:nvSpPr>
        <p:spPr>
          <a:xfrm>
            <a:off x="868680" y="3703320"/>
            <a:ext cx="106070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The Web App Manifest provides information about the application.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It can define: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Application name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Short name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Start URL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Display mode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Icons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Theme information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1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21" name="Google Shape;321;p41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Service Worker</a:t>
            </a:r>
            <a:endParaRPr/>
          </a:p>
        </p:txBody>
      </p:sp>
      <p:sp>
        <p:nvSpPr>
          <p:cNvPr id="322" name="Google Shape;322;p41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 Service Worker is a browser-managed script that runs separately from the webpage.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It can support: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Caching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Offline functionality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Network request handling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Background operations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Improved reliability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IMPORTANT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Service Worker ≠ User Interface — it works behind the scenes.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2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29" name="Google Shape;329;p42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How Offline Functionality Works</a:t>
            </a:r>
            <a:endParaRPr/>
          </a:p>
        </p:txBody>
      </p:sp>
      <p:sp>
        <p:nvSpPr>
          <p:cNvPr id="330" name="Google Shape;330;p42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WHEN ONLINE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USER  →  PWA  →  NETWORK  →  SERVER/API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WHEN NETWORK IS UNAVAILABLE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USER  →  PWA  →  SERVICE WORKER  →  CACHE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Previously cached resources can still be available.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37" name="Google Shape;337;p43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PWA Project Structure</a:t>
            </a:r>
            <a:endParaRPr/>
          </a:p>
        </p:txBody>
      </p:sp>
      <p:sp>
        <p:nvSpPr>
          <p:cNvPr id="338" name="Google Shape;338;p43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my-pwa/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├── index.html          — application structure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├── style.css           — presentation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├── app.js              — application behaviour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├── manifest.json       — PWA information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└── service-worker.js   — caching/network functionality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4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45" name="Google Shape;345;p44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Practical Task 1 — Build Your First Web Application</a:t>
            </a:r>
            <a:endParaRPr/>
          </a:p>
        </p:txBody>
      </p:sp>
      <p:sp>
        <p:nvSpPr>
          <p:cNvPr id="346" name="Google Shape;346;p44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Create:  week1-pwa/  →  index.html, style.css, app.js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REQUIREMENTS — Your page must contain: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Application title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Short description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One button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CSS styling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JavaScript interaction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Create a simple working web application.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5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53" name="Google Shape;353;p45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Starter HTML — index.html</a:t>
            </a:r>
            <a:endParaRPr/>
          </a:p>
        </p:txBody>
      </p:sp>
      <p:sp>
        <p:nvSpPr>
          <p:cNvPr id="354" name="Google Shape;354;p45"/>
          <p:cNvSpPr/>
          <p:nvPr/>
        </p:nvSpPr>
        <p:spPr>
          <a:xfrm>
            <a:off x="868680" y="1737360"/>
            <a:ext cx="10424160" cy="448056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&lt;meta charset="UTF-8"&gt;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&lt;meta name="viewport"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      content="width=device-width, initial-scale=1.0"&gt;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&lt;title&gt;My First PWA&lt;/title&gt;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&lt;link rel="stylesheet" href="style.css"&gt;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&lt;h1&gt;My First PWA&lt;/h1&gt;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&lt;p&gt;Welcome to my application.&lt;/p&gt;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&lt;button id="startButton"&gt;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    Get Started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&lt;/button&gt;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&lt;script src="app.js"&gt;&lt;/script&gt;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6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61" name="Google Shape;361;p46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Starter CSS — style.css</a:t>
            </a:r>
            <a:endParaRPr/>
          </a:p>
        </p:txBody>
      </p:sp>
      <p:sp>
        <p:nvSpPr>
          <p:cNvPr id="362" name="Google Shape;362;p46"/>
          <p:cNvSpPr/>
          <p:nvPr/>
        </p:nvSpPr>
        <p:spPr>
          <a:xfrm>
            <a:off x="868680" y="1737360"/>
            <a:ext cx="10424160" cy="219456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body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font-family: Arial, sans-serif;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padding: 30px;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text-align: center;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button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padding: 12px 20px;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font-size: 16px;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63" name="Google Shape;363;p46"/>
          <p:cNvSpPr txBox="1"/>
          <p:nvPr/>
        </p:nvSpPr>
        <p:spPr>
          <a:xfrm>
            <a:off x="868680" y="4160520"/>
            <a:ext cx="106070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TRY CHANGING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Font size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Button size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Spacing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Border radius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Page layout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7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70" name="Google Shape;370;p47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Starter JavaScript — app.js</a:t>
            </a:r>
            <a:endParaRPr/>
          </a:p>
        </p:txBody>
      </p:sp>
      <p:sp>
        <p:nvSpPr>
          <p:cNvPr id="371" name="Google Shape;371;p47"/>
          <p:cNvSpPr/>
          <p:nvPr/>
        </p:nvSpPr>
        <p:spPr>
          <a:xfrm>
            <a:off x="868680" y="1737360"/>
            <a:ext cx="10424160" cy="173736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const button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document.getElementById("startButton");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button.addEventListener("click", () =&gt;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alert("Welcome to the application!");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</p:txBody>
      </p:sp>
      <p:sp>
        <p:nvSpPr>
          <p:cNvPr id="372" name="Google Shape;372;p47"/>
          <p:cNvSpPr txBox="1"/>
          <p:nvPr/>
        </p:nvSpPr>
        <p:spPr>
          <a:xfrm>
            <a:off x="868680" y="3703320"/>
            <a:ext cx="106070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TEST — Click the button.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OBSERVE — HTML → Button   •   JavaScript → Interaction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8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79" name="Google Shape;379;p48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Practical Task 2 — Add PWA Components</a:t>
            </a:r>
            <a:endParaRPr/>
          </a:p>
        </p:txBody>
      </p:sp>
      <p:sp>
        <p:nvSpPr>
          <p:cNvPr id="380" name="Google Shape;380;p48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Add:  manifest.json  +  service-worker.js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Link the manifest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Register the service worker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Open Developer Tools → Application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Check Manifest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Check Service Workers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Verify that the browser recognises the PWA components.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9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87" name="Google Shape;387;p49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Manifest File — manifest.json</a:t>
            </a:r>
            <a:endParaRPr/>
          </a:p>
        </p:txBody>
      </p:sp>
      <p:sp>
        <p:nvSpPr>
          <p:cNvPr id="388" name="Google Shape;388;p49"/>
          <p:cNvSpPr/>
          <p:nvPr/>
        </p:nvSpPr>
        <p:spPr>
          <a:xfrm>
            <a:off x="868680" y="1737360"/>
            <a:ext cx="10424160" cy="173736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"name": "My First PWA",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"short_name": "MyPWA",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"start_url": "./",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"display": "standalone"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89" name="Google Shape;389;p49"/>
          <p:cNvSpPr txBox="1"/>
          <p:nvPr/>
        </p:nvSpPr>
        <p:spPr>
          <a:xfrm>
            <a:off x="868680" y="3703320"/>
            <a:ext cx="106070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LINK IN HTML</a:t>
            </a:r>
            <a:endParaRPr/>
          </a:p>
        </p:txBody>
      </p:sp>
      <p:sp>
        <p:nvSpPr>
          <p:cNvPr id="390" name="Google Shape;390;p49"/>
          <p:cNvSpPr/>
          <p:nvPr/>
        </p:nvSpPr>
        <p:spPr>
          <a:xfrm>
            <a:off x="868680" y="3977639"/>
            <a:ext cx="10424160" cy="640080"/>
          </a:xfrm>
          <a:prstGeom prst="rect">
            <a:avLst/>
          </a:prstGeom>
          <a:solidFill>
            <a:srgbClr val="F2F4F7"/>
          </a:solidFill>
          <a:ln cap="flat" cmpd="sng" w="9525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&lt;link rel="manifest" href="manifest.json"&gt;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50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397" name="Google Shape;397;p50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Service Worker File — service-worker.js</a:t>
            </a:r>
            <a:endParaRPr/>
          </a:p>
        </p:txBody>
      </p:sp>
      <p:sp>
        <p:nvSpPr>
          <p:cNvPr id="398" name="Google Shape;398;p50"/>
          <p:cNvSpPr/>
          <p:nvPr/>
        </p:nvSpPr>
        <p:spPr>
          <a:xfrm>
            <a:off x="868675" y="1737350"/>
            <a:ext cx="7550100" cy="19203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self.addEventListener("install", () =&gt; {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console.log("Service Worker installed");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self.addEventListener("activate", () =&gt; {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console.log("Service Worker activated");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700"/>
          </a:p>
        </p:txBody>
      </p:sp>
      <p:sp>
        <p:nvSpPr>
          <p:cNvPr id="399" name="Google Shape;399;p50"/>
          <p:cNvSpPr txBox="1"/>
          <p:nvPr/>
        </p:nvSpPr>
        <p:spPr>
          <a:xfrm>
            <a:off x="868680" y="3703320"/>
            <a:ext cx="106070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PURPOSE — Introduces the Service Worker lifecycle.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LATER WE WILL IMPLEMENT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Caching  •  Offline support  •  Network strategies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1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06" name="Google Shape;406;p51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Register the Service Worker</a:t>
            </a:r>
            <a:endParaRPr/>
          </a:p>
        </p:txBody>
      </p:sp>
      <p:sp>
        <p:nvSpPr>
          <p:cNvPr id="407" name="Google Shape;407;p51"/>
          <p:cNvSpPr/>
          <p:nvPr/>
        </p:nvSpPr>
        <p:spPr>
          <a:xfrm>
            <a:off x="868680" y="1737360"/>
            <a:ext cx="10424160" cy="173736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8DD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if ("serviceWorker" in navigator)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navigator.serviceWorker.register(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    "service-worker.js"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4324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408" name="Google Shape;408;p51"/>
          <p:cNvSpPr txBox="1"/>
          <p:nvPr/>
        </p:nvSpPr>
        <p:spPr>
          <a:xfrm>
            <a:off x="868680" y="3703320"/>
            <a:ext cx="106070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Add to app.js:</a:t>
            </a:r>
            <a:endParaRPr/>
          </a:p>
        </p:txBody>
      </p:sp>
      <p:sp>
        <p:nvSpPr>
          <p:cNvPr id="409" name="Google Shape;409;p51"/>
          <p:cNvSpPr txBox="1"/>
          <p:nvPr/>
        </p:nvSpPr>
        <p:spPr>
          <a:xfrm>
            <a:off x="868680" y="406908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CHECK — Open:  Developer Tools → Application → Service Workers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2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16" name="Google Shape;416;p52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Browser Developer Tools</a:t>
            </a:r>
            <a:endParaRPr/>
          </a:p>
        </p:txBody>
      </p:sp>
      <p:sp>
        <p:nvSpPr>
          <p:cNvPr id="417" name="Google Shape;417;p52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Developer Tools help us: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Inspect HTML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Inspect CSS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Debug JavaScript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View console messages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Inspect network requests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Check storage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Inspect service workers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Test responsive layouts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IMPORTANT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Developer Tools are part of everyday application development.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3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24" name="Google Shape;424;p53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Plan Your Application — Your Application Idea</a:t>
            </a:r>
            <a:endParaRPr/>
          </a:p>
        </p:txBody>
      </p:sp>
      <p:sp>
        <p:nvSpPr>
          <p:cNvPr id="425" name="Google Shape;425;p53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1.  What problem are you solving?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2.  Who are your users?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3.  What will your application do?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4.  What information will it store?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5.  What are your five main features?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4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32" name="Google Shape;432;p54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Example Project — Student Study Planner</a:t>
            </a:r>
            <a:endParaRPr/>
          </a:p>
        </p:txBody>
      </p:sp>
      <p:sp>
        <p:nvSpPr>
          <p:cNvPr id="433" name="Google Shape;433;p54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Students struggle to organise assignments and deadlines.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TARGET USERS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University students.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MAIN PURPOSE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Help students organise and track coursework.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POSSIBLE DATA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Assignment title  •  Module  •  Deadline  •  Description  •  Status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55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40" name="Google Shape;440;p55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Example Features — Student Study Planner</a:t>
            </a:r>
            <a:endParaRPr/>
          </a:p>
        </p:txBody>
      </p:sp>
      <p:sp>
        <p:nvSpPr>
          <p:cNvPr id="441" name="Google Shape;441;p55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CORE FEATURES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User registration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User login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Add assignment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Edit assignment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Delete assignment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Set deadline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Mark assignment as complete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View upcoming deadlines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Search assignments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User dashboard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6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48" name="Google Shape;448;p56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Application Screens — Think About Your Screens</a:t>
            </a:r>
            <a:endParaRPr/>
          </a:p>
        </p:txBody>
      </p:sp>
      <p:sp>
        <p:nvSpPr>
          <p:cNvPr id="449" name="Google Shape;449;p56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 possible application flow: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LOGIN  →  DASHBOARD  →  MAIN FEATURE  →  DETAILS / FORM  →  CONFIRMATION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What does the user see first?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What can the user do?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Where does the user go next?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What information is displayed?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57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56" name="Google Shape;456;p57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Wireframe Activity — Create a Simple Wireframe</a:t>
            </a:r>
            <a:endParaRPr/>
          </a:p>
        </p:txBody>
      </p:sp>
      <p:sp>
        <p:nvSpPr>
          <p:cNvPr id="457" name="Google Shape;457;p57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Sketch at least four screens: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Screen 1 — Login        Screen 2 — Home / Dashboard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Screen 3 — Main Feature        Screen 4 — Details / Form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FOCUS 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Layout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Navigation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Content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User flow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Do not focus on colours yet.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8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64" name="Google Shape;464;p58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User-Centred Development — Design for the User</a:t>
            </a:r>
            <a:endParaRPr/>
          </a:p>
        </p:txBody>
      </p:sp>
      <p:sp>
        <p:nvSpPr>
          <p:cNvPr id="465" name="Google Shape;465;p58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WHO?  —  Who will use the application?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WHY?  —  Why will they use it?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WHAT?  —  What do they need to accomplish?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HOW?  —  How can we make that process simple?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Good application development starts with the user problem.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9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72" name="Google Shape;472;p59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Testing — Build → Test → Improve</a:t>
            </a:r>
            <a:endParaRPr/>
          </a:p>
        </p:txBody>
      </p:sp>
      <p:sp>
        <p:nvSpPr>
          <p:cNvPr id="473" name="Google Shape;473;p59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Do not wait until the final week.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Buttons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Navigation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Forms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Different screen sizes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Different browsers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Network conditions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Error conditions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User interactions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Development is iterative.   Build → Test → Fix → Improve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60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80" name="Google Shape;480;p60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Common Beginner Mistakes</a:t>
            </a:r>
            <a:endParaRPr/>
          </a:p>
        </p:txBody>
      </p:sp>
      <p:sp>
        <p:nvSpPr>
          <p:cNvPr id="481" name="Google Shape;481;p60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1. Building everything in one file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Separate responsibilities.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2. Copying code without understanding it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Understand what your code does.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3. Ignoring mobile screen sizes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Test responsive layouts.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4. Testing only at the end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Test continuously.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5. Designing without a user problem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Start with the purpose.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6. Trying to build everything at once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Develop incrementally.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1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88" name="Google Shape;488;p61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Quick Check — Check Your Understanding</a:t>
            </a:r>
            <a:endParaRPr/>
          </a:p>
        </p:txBody>
      </p:sp>
      <p:sp>
        <p:nvSpPr>
          <p:cNvPr id="489" name="Google Shape;489;p61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Question 1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Question 2 — What does PWA stand for?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Question 3 — What does HTML provide?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Question 4 — What does CSS provide?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Question 5 — What does JavaScript provide?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Question 6 — What is an API?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Question 7 — What is a database used for?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Question 8 — What is a Service Worker?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2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496" name="Google Shape;496;p62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Quick Check — Answers</a:t>
            </a:r>
            <a:endParaRPr/>
          </a:p>
        </p:txBody>
      </p:sp>
      <p:sp>
        <p:nvSpPr>
          <p:cNvPr id="497" name="Google Shape;497;p62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1. PWA — Progressive Web App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2. HTML — Structure and content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3. CSS — Presentation, styling and layout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4. JavaScript — Behaviour and interactivity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5. API — A structured interface that allows software components to communicate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6. Database — Persistent storage of application data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7. Service Worker — A browser-managed background script supporting caching, network handling and offline functionality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63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504" name="Google Shape;504;p63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Week 1 Practical Outcome — By the End of Week 1</a:t>
            </a:r>
            <a:endParaRPr/>
          </a:p>
        </p:txBody>
      </p:sp>
      <p:sp>
        <p:nvSpPr>
          <p:cNvPr id="505" name="Google Shape;505;p63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week1-pwa/  →  index.html  •  style.css  •  app.js  •  manifest.json  •  service-worker.js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Application name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Problem statement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Target users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Five core features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Initial screen flow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Basic wireframe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64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512" name="Google Shape;512;p64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Independent Learning — Before Week 2</a:t>
            </a:r>
            <a:endParaRPr/>
          </a:p>
        </p:txBody>
      </p:sp>
      <p:sp>
        <p:nvSpPr>
          <p:cNvPr id="513" name="Google Shape;513;p64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COMPLETE YOUR PWA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Make sure all five files are working.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RESEARCH — Find two existing PWAs. For each, identify: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Purpose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Target users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Main features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Installation experience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Offline behaviour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PROJECT — Finalise: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Application idea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Target users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Core features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•  Initial wireframes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65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520" name="Google Shape;520;p65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Week 1 Key Takeaways</a:t>
            </a:r>
            <a:endParaRPr/>
          </a:p>
        </p:txBody>
      </p:sp>
      <p:sp>
        <p:nvSpPr>
          <p:cNvPr id="521" name="Google Shape;521;p65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Mobile Application Development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Web Technologies  —  HTML + CSS + JavaScript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Progressive Web App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Manifest + Service Worker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API + Backend  →  Database  →  Your Application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66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FGCT6002 — MOBILE APPLICATION DEVELOPMENT</a:t>
            </a:r>
            <a:endParaRPr/>
          </a:p>
        </p:txBody>
      </p:sp>
      <p:sp>
        <p:nvSpPr>
          <p:cNvPr id="528" name="Google Shape;528;p66"/>
          <p:cNvSpPr txBox="1"/>
          <p:nvPr/>
        </p:nvSpPr>
        <p:spPr>
          <a:xfrm>
            <a:off x="685800" y="621792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Final Question — What Are You Going to Build?</a:t>
            </a:r>
            <a:endParaRPr/>
          </a:p>
        </p:txBody>
      </p:sp>
      <p:sp>
        <p:nvSpPr>
          <p:cNvPr id="529" name="Google Shape;529;p66"/>
          <p:cNvSpPr txBox="1"/>
          <p:nvPr/>
        </p:nvSpPr>
        <p:spPr>
          <a:xfrm>
            <a:off x="868680" y="1737360"/>
            <a:ext cx="1060704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Before leaving, be ready to explain: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My application is:  ________________________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It solves:  ________________________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My users are:  ________________________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My main features are:  ________________________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NEXT STEP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7A1E"/>
                </a:solidFill>
                <a:latin typeface="Calibri"/>
                <a:ea typeface="Calibri"/>
                <a:cs typeface="Calibri"/>
                <a:sym typeface="Calibri"/>
              </a:rPr>
              <a:t>Turn the idea into a working application.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